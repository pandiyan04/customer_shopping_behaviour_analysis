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antari Bold"/>
      <p:regular r:id="rId201314"/>
    </p:embeddedFont>
    <p:embeddedFont>
      <p:font typeface="Mozilla Text"/>
      <p:regular r:id="rId201315"/>
    </p:embeddedFont>
    <p:embeddedFont>
      <p:font typeface="Mozilla Text Medium"/>
      <p:regular r:id="rId201316"/>
    </p:embeddedFont>
    <p:embeddedFont>
      <p:font typeface="Mozilla Text SemiBold"/>
      <p:regular r:id="rId201317"/>
    </p:embeddedFont>
    <p:embeddedFont>
      <p:font typeface="Mozilla Tex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E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E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6349841" cy="5207000"/>
          </a:xfrm>
          <a:prstGeom prst="roundRect">
            <a:avLst>
              <a:gd name="adj" fmla="val 3732"/>
            </a:avLst>
          </a:prstGeom>
          <a:solidFill>
            <a:srgbClr val="0E1F45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2850971"/>
            <a:ext cx="62482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CUSTOMER SHOPPING BEHAVIOR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65176" y="3179538"/>
            <a:ext cx="5638659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FFFFF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Customer shopping behavior points to a retention opportunity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65176" y="4848027"/>
            <a:ext cx="5638659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A data-led read on demand, discount response, subscription adoption, and practical growth levers.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THE BASE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3,900 purchases reveal a large but under-monetized base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69406"/>
            <a:ext cx="2514636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000" b="1" spc="-100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3,900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3620195"/>
            <a:ext cx="251463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purchases across 18 fields and 25 products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347855" y="2801144"/>
            <a:ext cx="9723" cy="1431925"/>
          </a:xfrm>
          <a:prstGeom prst="roundRect">
            <a:avLst>
              <a:gd name="adj" fmla="val 50001"/>
            </a:avLst>
          </a:prstGeom>
          <a:solidFill>
            <a:srgbClr val="2E4275"/>
          </a:solidFill>
          <a:ln/>
        </p:spPr>
      </p:sp>
      <p:sp>
        <p:nvSpPr>
          <p:cNvPr id="7" name="Text 5"/>
          <p:cNvSpPr/>
          <p:nvPr/>
        </p:nvSpPr>
        <p:spPr>
          <a:xfrm>
            <a:off x="3581112" y="2869406"/>
            <a:ext cx="2286042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000" b="1" spc="-100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$59.76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581112" y="3620195"/>
            <a:ext cx="228604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average purchase amount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0986" y="2801144"/>
            <a:ext cx="9723" cy="1431925"/>
          </a:xfrm>
          <a:prstGeom prst="roundRect">
            <a:avLst>
              <a:gd name="adj" fmla="val 50001"/>
            </a:avLst>
          </a:prstGeom>
          <a:solidFill>
            <a:srgbClr val="2E4275"/>
          </a:solidFill>
          <a:ln/>
        </p:spPr>
      </p:sp>
      <p:sp>
        <p:nvSpPr>
          <p:cNvPr id="10" name="Text 8"/>
          <p:cNvSpPr/>
          <p:nvPr/>
        </p:nvSpPr>
        <p:spPr>
          <a:xfrm>
            <a:off x="6324243" y="2869406"/>
            <a:ext cx="2286042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000" b="1" spc="-100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3.75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324243" y="3620195"/>
            <a:ext cx="289562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average review rating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834117" y="2801144"/>
            <a:ext cx="9723" cy="1431925"/>
          </a:xfrm>
          <a:prstGeom prst="roundRect">
            <a:avLst>
              <a:gd name="adj" fmla="val 50001"/>
            </a:avLst>
          </a:prstGeom>
          <a:solidFill>
            <a:srgbClr val="2E4275"/>
          </a:solidFill>
          <a:ln/>
        </p:spPr>
      </p:sp>
      <p:sp>
        <p:nvSpPr>
          <p:cNvPr id="13" name="Text 11"/>
          <p:cNvSpPr/>
          <p:nvPr/>
        </p:nvSpPr>
        <p:spPr>
          <a:xfrm>
            <a:off x="9067375" y="2869406"/>
            <a:ext cx="2514636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000" b="1" spc="-100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37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9067375" y="3620195"/>
            <a:ext cx="2514636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ratings imputed during cleaning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9585" y="5130998"/>
            <a:ext cx="10972526" cy="1117302"/>
          </a:xfrm>
          <a:prstGeom prst="roundRect">
            <a:avLst>
              <a:gd name="adj" fmla="val 17391"/>
            </a:avLst>
          </a:prstGeom>
          <a:solidFill>
            <a:srgbClr val="F4C53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981" y="5362674"/>
            <a:ext cx="10515436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The customer base is broad, but subscription adoption is still the clearest growth gap.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PRODUCT HIERARCHY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Clothing leads demand, with a clear product hierarchy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12541"/>
            <a:ext cx="6659694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268" y="2930128"/>
            <a:ext cx="3855743" cy="72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Clothing leads the dashboard's revenue and sales views.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26268" y="3778349"/>
            <a:ext cx="385574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Category leaders: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Jewelry, Blouse, Sandals, and Jacket.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26268" y="4518124"/>
            <a:ext cx="3855743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2C8D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Use category leaders as the entry points for merchandising and campaign planning.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REVENUE COHORTS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Young adults and male shoppers drive more revenue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95352"/>
            <a:ext cx="6659694" cy="349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268" y="2421156"/>
            <a:ext cx="3855743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200" b="1" spc="-144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$157,890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726268" y="3461941"/>
            <a:ext cx="446532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male customer revenue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26268" y="3895328"/>
            <a:ext cx="446532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Female customer revenue: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$75,191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26268" y="4328716"/>
            <a:ext cx="3855743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2C8D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Prioritize growth campaigns around the highest-revenue cohorts, then tailor creative and offers by segment.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DISCOUNT ECONOMICS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Discounts attract high spend, but some products may be over-dependent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71973"/>
            <a:ext cx="6659694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26268" y="2557840"/>
            <a:ext cx="3855743" cy="94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800" b="1" spc="-156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839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7726268" y="3683595"/>
            <a:ext cx="3855743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customers used discounts while spending above the average purchase amount.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26268" y="4783832"/>
            <a:ext cx="1272250" cy="38100"/>
          </a:xfrm>
          <a:prstGeom prst="roundRect">
            <a:avLst>
              <a:gd name="adj" fmla="val 49999"/>
            </a:avLst>
          </a:prstGeom>
          <a:solidFill>
            <a:srgbClr val="F0609E"/>
          </a:solidFill>
          <a:ln/>
        </p:spPr>
      </p:sp>
      <p:sp>
        <p:nvSpPr>
          <p:cNvPr id="8" name="Text 5"/>
          <p:cNvSpPr/>
          <p:nvPr/>
        </p:nvSpPr>
        <p:spPr>
          <a:xfrm>
            <a:off x="7726268" y="5002609"/>
            <a:ext cx="3855743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Decision: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protect margin by testing targeted offers instead of broad discounting.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SUBSCRIPTION GAP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The subscription gap is large, and spend is nearly flat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715617"/>
            <a:ext cx="7010225" cy="3492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6998" y="2477770"/>
            <a:ext cx="3505112" cy="940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7800" b="1" spc="-156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1,794</a:t>
            </a:r>
            <a:endParaRPr lang="en-US" sz="7800" dirty="0"/>
          </a:p>
        </p:txBody>
      </p:sp>
      <p:sp>
        <p:nvSpPr>
          <p:cNvPr id="6" name="Text 3"/>
          <p:cNvSpPr/>
          <p:nvPr/>
        </p:nvSpPr>
        <p:spPr>
          <a:xfrm>
            <a:off x="8076998" y="3603327"/>
            <a:ext cx="350511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more non-subscribers than subscribers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76998" y="4343102"/>
            <a:ext cx="350511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Repeat buyers: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958 subscribed; 2,518 did not.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76998" y="5082977"/>
            <a:ext cx="350511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2C8D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Subscription value is not yet translating into a meaningful basket-size lift.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PRACTICAL LEVERS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10972526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Experience and product signals offer practical levers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103338"/>
            <a:ext cx="3454314" cy="3451523"/>
          </a:xfrm>
          <a:prstGeom prst="roundRect">
            <a:avLst>
              <a:gd name="adj" fmla="val 5630"/>
            </a:avLst>
          </a:prstGeom>
          <a:solidFill>
            <a:srgbClr val="1629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981" y="2331839"/>
            <a:ext cx="431591" cy="431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981" y="2896056"/>
            <a:ext cx="299732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Shipping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7981" y="3481586"/>
            <a:ext cx="2997323" cy="603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000" b="1" spc="-100" kern="100" dirty="0">
                <a:solidFill>
                  <a:srgbClr val="F0609E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$60.48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37981" y="4232374"/>
            <a:ext cx="2997323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Express average purchase amount versus $58.46 for Standard shipping.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492" y="2103338"/>
            <a:ext cx="3454512" cy="3451523"/>
          </a:xfrm>
          <a:prstGeom prst="roundRect">
            <a:avLst>
              <a:gd name="adj" fmla="val 5630"/>
            </a:avLst>
          </a:prstGeom>
          <a:solidFill>
            <a:srgbClr val="16295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087" y="2331839"/>
            <a:ext cx="431591" cy="4316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087" y="2896056"/>
            <a:ext cx="299742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7F2E8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Top-rated products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597087" y="3441898"/>
            <a:ext cx="299742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Gloves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3.86 ·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Sandals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3.84 ·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Boots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3.82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97087" y="4181773"/>
            <a:ext cx="3607007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Hat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3.80 · </a:t>
            </a:r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Skirt</a:t>
            </a:r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3.78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127797" y="2103338"/>
            <a:ext cx="3454314" cy="3451523"/>
          </a:xfrm>
          <a:prstGeom prst="roundRect">
            <a:avLst>
              <a:gd name="adj" fmla="val 5630"/>
            </a:avLst>
          </a:prstGeom>
          <a:solidFill>
            <a:srgbClr val="F4C53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193" y="2331839"/>
            <a:ext cx="431591" cy="4316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6193" y="2852003"/>
            <a:ext cx="2997323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0"/>
              </a:rPr>
              <a:t>Merchandising move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356193" y="3793927"/>
            <a:ext cx="2997323" cy="15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Feature highly rated products in campaigns and test express-shipping messaging with high-value cohorts.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68"/>
            <a:ext cx="71116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29" kern="100" dirty="0">
                <a:solidFill>
                  <a:srgbClr val="F0609E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0"/>
              </a:rPr>
              <a:t>FROM ANALYSIS TO GROWTH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09585" y="944635"/>
            <a:ext cx="6502039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18" kern="100" dirty="0">
                <a:solidFill>
                  <a:srgbClr val="F7F2E8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Five actions can turn the analysis into growth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119313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2210991"/>
            <a:ext cx="111757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0569" y="2258913"/>
            <a:ext cx="579105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Boost subscriptions: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Clarify exclusive benefits and test offers against repeat buyers.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5" y="2975471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8" name="Text 6"/>
          <p:cNvSpPr/>
          <p:nvPr/>
        </p:nvSpPr>
        <p:spPr>
          <a:xfrm>
            <a:off x="304792" y="3067149"/>
            <a:ext cx="111757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0569" y="3115171"/>
            <a:ext cx="579105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Build loyalty: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Reward the 3,116-customer Loyal segment and move Returning customers upward.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5" y="3831630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1" name="Text 9"/>
          <p:cNvSpPr/>
          <p:nvPr/>
        </p:nvSpPr>
        <p:spPr>
          <a:xfrm>
            <a:off x="304792" y="3923308"/>
            <a:ext cx="111757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0569" y="3971330"/>
            <a:ext cx="579105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Review discount policy: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Target discount-dependent products and monitor margin impact.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5" y="4687987"/>
            <a:ext cx="507987" cy="508000"/>
          </a:xfrm>
          <a:prstGeom prst="ellipse">
            <a:avLst/>
          </a:prstGeom>
          <a:solidFill>
            <a:srgbClr val="F0609E"/>
          </a:solidFill>
          <a:ln/>
        </p:spPr>
      </p:sp>
      <p:sp>
        <p:nvSpPr>
          <p:cNvPr id="14" name="Text 12"/>
          <p:cNvSpPr/>
          <p:nvPr/>
        </p:nvSpPr>
        <p:spPr>
          <a:xfrm>
            <a:off x="304792" y="4779665"/>
            <a:ext cx="111757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0569" y="4827687"/>
            <a:ext cx="579105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Position the winners: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Put top-rated and category-leading products at the center of campaigns.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5" y="5544344"/>
            <a:ext cx="507987" cy="508000"/>
          </a:xfrm>
          <a:prstGeom prst="ellipse">
            <a:avLst/>
          </a:prstGeom>
          <a:solidFill>
            <a:srgbClr val="FF8A3D"/>
          </a:solidFill>
          <a:ln/>
        </p:spPr>
      </p:sp>
      <p:sp>
        <p:nvSpPr>
          <p:cNvPr id="17" name="Text 15"/>
          <p:cNvSpPr/>
          <p:nvPr/>
        </p:nvSpPr>
        <p:spPr>
          <a:xfrm>
            <a:off x="304792" y="5636022"/>
            <a:ext cx="1117572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0E1F45"/>
                </a:solidFill>
                <a:latin typeface="Gantari Bold" pitchFamily="34" charset="0"/>
                <a:ea typeface="Gantari Bold" pitchFamily="34" charset="-122"/>
                <a:cs typeface="Gantari Bold" pitchFamily="34" charset="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0569" y="5684044"/>
            <a:ext cx="5791055" cy="522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7F2E8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0"/>
              </a:rPr>
              <a:t>Target the highest-value cohorts:</a:t>
            </a:r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7F2E8"/>
                </a:solidFill>
                <a:latin typeface="Mozilla Text" pitchFamily="34" charset="0"/>
                <a:ea typeface="Mozilla Text" pitchFamily="34" charset="-122"/>
                <a:cs typeface="Mozilla Text" pitchFamily="34" charset="0"/>
              </a:rPr>
              <a:t> Focus age, gender, and shipping messages where revenue is strongest.</a:t>
            </a:r>
            <a:endParaRPr lang="en-US" sz="14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208" y="0"/>
            <a:ext cx="4470387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2026-10-25T10:48:28Z</dcterms:created>
  <dcterms:modified xsi:type="dcterms:W3CDTF">2026-10-25T10:48:28Z</dcterms:modified>
</cp:coreProperties>
</file>